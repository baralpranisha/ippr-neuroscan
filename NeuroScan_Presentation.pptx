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E4066"/>
          </a:solidFill>
        </p:spPr>
      </p:sp>
      <p:sp>
        <p:nvSpPr>
          <p:cNvPr id="3" name="Shape 1"/>
          <p:cNvSpPr/>
          <p:nvPr/>
        </p:nvSpPr>
        <p:spPr>
          <a:xfrm>
            <a:off x="9692640" y="-91440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1371600" y="5029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NEPAL ENGINEERING COLLEGE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777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Affiliated to Pokhara University  |  Department of Computer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8686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NeuroScan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58368" y="333756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Convolutional Neural Network Based Brain Tumor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System from MRI Images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4434840"/>
            <a:ext cx="219456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6177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Course Project Report — Image Processing and Pattern Recognition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Pranisha Baral</a:t>
            </a:r>
            <a:r>
              <a:rPr lang="en-US" sz="2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CRN: 023-345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111125" y="184150"/>
            <a:ext cx="1260475" cy="109474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973695" y="6032500"/>
            <a:ext cx="3174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11 Aug,2026 AD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b="1" dirty="0">
                <a:solidFill>
                  <a:srgbClr val="0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NeuroScan </a:t>
            </a: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an automated brain tumor classification system that applies digital image processing and Convolutional Neural Network (CNN) based pattern recognition to brain MRI scans, built to support but not replace expert diagnosis.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3776345"/>
            <a:ext cx="5394960" cy="824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Python, PyTorch and Streamlit, the system pairs a trained CNN with an interactive web app so a scan can be uploaded, preprocessed, classified, and explained with a confidence score — end to end.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8480" y="5029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</p:spPr>
        <p:txBody>
          <a:bodyPr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5093335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7080" y="5367655"/>
            <a:ext cx="4937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· Precision · Recall · F1-score, tested end-to-end from image upload to final prediction.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516380"/>
            <a:ext cx="5120640" cy="1344930"/>
          </a:xfrm>
          <a:prstGeom prst="roundRect">
            <a:avLst>
              <a:gd name="adj" fmla="val 8000"/>
            </a:avLst>
          </a:prstGeom>
          <a:solidFill>
            <a:srgbClr val="0B3350"/>
          </a:solidFill>
        </p:spPr>
      </p:sp>
      <p:sp>
        <p:nvSpPr>
          <p:cNvPr id="11" name="Shape 9"/>
          <p:cNvSpPr/>
          <p:nvPr/>
        </p:nvSpPr>
        <p:spPr>
          <a:xfrm>
            <a:off x="6629400" y="1691767"/>
            <a:ext cx="402336" cy="402336"/>
          </a:xfrm>
          <a:prstGeom prst="ellipse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629400" y="1691767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691513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Image Input Module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23760" y="223088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Accepts a brain MRI scan for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95363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16" name="Shape 14"/>
          <p:cNvSpPr/>
          <p:nvPr/>
        </p:nvSpPr>
        <p:spPr>
          <a:xfrm>
            <a:off x="6629400" y="3228086"/>
            <a:ext cx="402336" cy="402336"/>
          </a:xfrm>
          <a:prstGeom prst="ellipse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629400" y="319125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3063367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 Module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23760" y="3424301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Resizing, normalization &amp; augmentation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4034790"/>
            <a:ext cx="5120640" cy="1154430"/>
          </a:xfrm>
          <a:prstGeom prst="roundRect">
            <a:avLst>
              <a:gd name="adj" fmla="val 8000"/>
            </a:avLst>
          </a:prstGeom>
          <a:solidFill>
            <a:srgbClr val="0B3350"/>
          </a:solidFill>
        </p:spPr>
        <p:txBody>
          <a:bodyPr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29400" y="4255135"/>
            <a:ext cx="402336" cy="402336"/>
          </a:xfrm>
          <a:prstGeom prst="ellipse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629400" y="4250690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31990" y="4178300"/>
            <a:ext cx="4306570" cy="476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Feature Extraction &amp; Classification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31990" y="4618355"/>
            <a:ext cx="4206240" cy="3790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discriminative features directly from image 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5239385"/>
            <a:ext cx="5120640" cy="1172845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26" name="Shape 24"/>
          <p:cNvSpPr/>
          <p:nvPr/>
        </p:nvSpPr>
        <p:spPr>
          <a:xfrm>
            <a:off x="6629400" y="5495544"/>
            <a:ext cx="402336" cy="402336"/>
          </a:xfrm>
          <a:prstGeom prst="ellipse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629400" y="5495544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53492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 Module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223760" y="5780024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Prediction, confidence score &amp; performance visualizations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54864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896112" y="1737360"/>
            <a:ext cx="6309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Brain tumors are among the most serious neurological disorders, arising from abnormal, uncontrolled cell growth and causing headaches, seizures, vision loss, and impaired motor coordination.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4864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896112" y="3035808"/>
            <a:ext cx="6309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MRI is the leading imaging technique for detection, but manual interpretation by radiologists is time-consuming, subjective, and prone to fatigue-driven error especially across hundreds of slices.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4407408"/>
            <a:ext cx="54864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896112" y="4334256"/>
            <a:ext cx="6309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Distinguishing between tumor types is further complicated by overlapping visual characteristics, motivating an automated, CNN-based classification approach.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635240" y="1737360"/>
            <a:ext cx="3886200" cy="4160520"/>
          </a:xfrm>
          <a:prstGeom prst="roundRect">
            <a:avLst>
              <a:gd name="adj" fmla="val 2824"/>
            </a:avLst>
          </a:prstGeom>
          <a:solidFill>
            <a:srgbClr val="0B3350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196596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09560" y="22860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diagnosis directly improves treatment outcomes and patient survival rates.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3429000"/>
            <a:ext cx="1188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0" y="3483864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MRI-derived tumor categories studied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4206240"/>
            <a:ext cx="1188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0" y="4261104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slices reviewed manually per case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09560" y="4983480"/>
            <a:ext cx="1188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5038344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features without hand-engineering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</p:spPr>
      </p:sp>
      <p:sp>
        <p:nvSpPr>
          <p:cNvPr id="5" name="Shape 3"/>
          <p:cNvSpPr/>
          <p:nvPr/>
        </p:nvSpPr>
        <p:spPr>
          <a:xfrm>
            <a:off x="896112" y="2039112"/>
            <a:ext cx="457200" cy="457200"/>
          </a:xfrm>
          <a:prstGeom prst="ellipse">
            <a:avLst/>
          </a:prstGeom>
          <a:solidFill>
            <a:srgbClr val="0B3350"/>
          </a:solidFill>
        </p:spPr>
      </p:sp>
      <p:sp>
        <p:nvSpPr>
          <p:cNvPr id="6" name="Text 4"/>
          <p:cNvSpPr/>
          <p:nvPr/>
        </p:nvSpPr>
        <p:spPr>
          <a:xfrm>
            <a:off x="896112" y="20391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6052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and implement a CNN capable of classifying brain MRI images into Healthy and Tumor categories.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</p:spPr>
      </p:sp>
      <p:sp>
        <p:nvSpPr>
          <p:cNvPr id="9" name="Shape 7"/>
          <p:cNvSpPr/>
          <p:nvPr/>
        </p:nvSpPr>
        <p:spPr>
          <a:xfrm>
            <a:off x="6473952" y="2039112"/>
            <a:ext cx="457200" cy="457200"/>
          </a:xfrm>
          <a:prstGeom prst="ellipse">
            <a:avLst/>
          </a:prstGeom>
          <a:solidFill>
            <a:srgbClr val="0B3350"/>
          </a:solidFill>
        </p:spPr>
      </p:sp>
      <p:sp>
        <p:nvSpPr>
          <p:cNvPr id="10" name="Text 8"/>
          <p:cNvSpPr/>
          <p:nvPr/>
        </p:nvSpPr>
        <p:spPr>
          <a:xfrm>
            <a:off x="6473952" y="20391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947672"/>
            <a:ext cx="416052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digital image preprocessing (resizing, normalization, augmentation ) to improve model robustness.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</p:spPr>
      </p:sp>
      <p:sp>
        <p:nvSpPr>
          <p:cNvPr id="13" name="Shape 11"/>
          <p:cNvSpPr/>
          <p:nvPr/>
        </p:nvSpPr>
        <p:spPr>
          <a:xfrm>
            <a:off x="896112" y="3730752"/>
            <a:ext cx="457200" cy="457200"/>
          </a:xfrm>
          <a:prstGeom prst="ellipse">
            <a:avLst/>
          </a:prstGeom>
          <a:solidFill>
            <a:srgbClr val="0B3350"/>
          </a:solidFill>
        </p:spPr>
      </p:sp>
      <p:sp>
        <p:nvSpPr>
          <p:cNvPr id="14" name="Text 12"/>
          <p:cNvSpPr/>
          <p:nvPr/>
        </p:nvSpPr>
        <p:spPr>
          <a:xfrm>
            <a:off x="896112" y="37307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16052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the trained model using accuracy, precision, recall, and F1-score.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</p:spPr>
      </p:sp>
      <p:sp>
        <p:nvSpPr>
          <p:cNvPr id="17" name="Shape 15"/>
          <p:cNvSpPr/>
          <p:nvPr/>
        </p:nvSpPr>
        <p:spPr>
          <a:xfrm>
            <a:off x="6473952" y="3730752"/>
            <a:ext cx="457200" cy="457200"/>
          </a:xfrm>
          <a:prstGeom prst="ellipse">
            <a:avLst/>
          </a:prstGeom>
          <a:solidFill>
            <a:srgbClr val="0B3350"/>
          </a:solidFill>
        </p:spPr>
      </p:sp>
      <p:sp>
        <p:nvSpPr>
          <p:cNvPr id="18" name="Text 16"/>
          <p:cNvSpPr/>
          <p:nvPr/>
        </p:nvSpPr>
        <p:spPr>
          <a:xfrm>
            <a:off x="6473952" y="37307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639312"/>
            <a:ext cx="416052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an interactive, user-friendly web application for uploading MRI images and viewing real-time predictions.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</p:spPr>
      </p:sp>
      <p:sp>
        <p:nvSpPr>
          <p:cNvPr id="21" name="Shape 19"/>
          <p:cNvSpPr/>
          <p:nvPr/>
        </p:nvSpPr>
        <p:spPr>
          <a:xfrm>
            <a:off x="896112" y="5422392"/>
            <a:ext cx="457200" cy="457200"/>
          </a:xfrm>
          <a:prstGeom prst="ellipse">
            <a:avLst/>
          </a:prstGeom>
          <a:solidFill>
            <a:srgbClr val="0B3350"/>
          </a:solidFill>
        </p:spPr>
      </p:sp>
      <p:sp>
        <p:nvSpPr>
          <p:cNvPr id="22" name="Text 20"/>
          <p:cNvSpPr/>
          <p:nvPr/>
        </p:nvSpPr>
        <p:spPr>
          <a:xfrm>
            <a:off x="896112" y="542239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330952"/>
            <a:ext cx="416052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manual analysis workload and increase the speed and consistency of preliminary MRI screening.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3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0603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1013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90140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into four MRI categories: Glioma, Meningioma, Pituitary, No Tumor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3006598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73908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Kaggle Brain Tumor MRI dataset (7,153 images)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3443986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74466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Preprocessing: resizing, normalization, data augmentation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4102989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42029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CNN trained from scratch for multi-class classification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" y="4735322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685157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via accuracy, precision, recall, F1-score, confusion matrix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5394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app for upload, prediction &amp; confidence scores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20840" y="1691640"/>
            <a:ext cx="4800600" cy="4251960"/>
          </a:xfrm>
          <a:prstGeom prst="roundRect">
            <a:avLst>
              <a:gd name="adj" fmla="val 2581"/>
            </a:avLst>
          </a:prstGeom>
          <a:solidFill>
            <a:srgbClr val="12233B"/>
          </a:solidFill>
          <a:ln w="12700">
            <a:solidFill>
              <a:srgbClr val="E4572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192024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LIMITATIONS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95160" y="233172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2331720"/>
            <a:ext cx="3977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segmentation or localization within the image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01752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017520"/>
            <a:ext cx="3977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Estimating tumor size, stage, or severity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370332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3703320"/>
            <a:ext cx="3977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recommendations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438912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60920" y="4389120"/>
            <a:ext cx="3977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validation on real hospital data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5166360"/>
            <a:ext cx="4297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9FB3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is an academic demonstration of computer-aided diagnosis — not a replacement for professional medical diagnosis.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960120" y="1764792"/>
            <a:ext cx="2834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Classical CAD Methods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77640" y="1764792"/>
            <a:ext cx="7589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systems relied on handcrafted features (SIFT, HOG, LBP, GLCM, PCA) with SVM / Random Forest / KNN classifiers — limited generalization.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8" name="Text 6"/>
          <p:cNvSpPr/>
          <p:nvPr/>
        </p:nvSpPr>
        <p:spPr>
          <a:xfrm>
            <a:off x="960120" y="2642616"/>
            <a:ext cx="2834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Rise of CNNs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77640" y="2642616"/>
            <a:ext cx="7589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CNNs automatically learn hierarchical features — edges and textures in early layers, anatomical structures in deeper layers — surpassing handcrafted pipelines.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38728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960120" y="3520440"/>
            <a:ext cx="2834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Transfer Learning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77640" y="3520440"/>
            <a:ext cx="7589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Pretrained networks (VGG16, ResNet50, DenseNet121, InceptionV3, EfficientNet) fine-tuned on medical images reduce training cost and boost accuracy.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16552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960120" y="4398264"/>
            <a:ext cx="2834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 &amp; Augmentation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77640" y="4398264"/>
            <a:ext cx="7589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Resizing, normalization, skull stripping, flips and rotations reduce scanner variability and overfitting across datasets.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146304" cy="777240"/>
          </a:xfrm>
          <a:prstGeom prst="roundRect">
            <a:avLst>
              <a:gd name="adj" fmla="val 18750"/>
            </a:avLst>
          </a:prstGeom>
          <a:solidFill>
            <a:srgbClr val="1C7293"/>
          </a:solidFill>
        </p:spPr>
      </p:sp>
      <p:sp>
        <p:nvSpPr>
          <p:cNvPr id="17" name="Text 15"/>
          <p:cNvSpPr/>
          <p:nvPr/>
        </p:nvSpPr>
        <p:spPr>
          <a:xfrm>
            <a:off x="960120" y="5276088"/>
            <a:ext cx="28346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Practice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77640" y="5276088"/>
            <a:ext cx="7589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accuracy, precision, recall, F1-score, confusion matrices and ROC/AUC are used given the clinical cost of misclassification.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Box 19"/>
          <p:cNvSpPr txBox="1"/>
          <p:nvPr/>
        </p:nvSpPr>
        <p:spPr>
          <a:xfrm>
            <a:off x="8926830" y="4666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3  ·  SYSTEM ANALYSIS &amp;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55775"/>
            <a:ext cx="6809105" cy="1673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b="1" dirty="0">
                <a:solidFill>
                  <a:srgbClr val="0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— Brain Tumor MRI Data (tombackert)
</a:t>
            </a:r>
            <a:r>
              <a:rPr lang="en-US" b="1" dirty="0">
                <a:solidFill>
                  <a:srgbClr val="0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images: </a:t>
            </a: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7,153 labeled MRI scans, resized to 224×224 and normalized
</a:t>
            </a:r>
            <a:r>
              <a:rPr lang="en-US" b="1" dirty="0">
                <a:solidFill>
                  <a:srgbClr val="0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Reframing: </a:t>
            </a: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Glioma, Meningioma &amp; Pituitary → "Tumor"; No Tumor → "Healthy"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0080" y="3776345"/>
          <a:ext cx="6808470" cy="2374900"/>
        </p:xfrm>
        <a:graphic>
          <a:graphicData uri="http://schemas.openxmlformats.org/drawingml/2006/table">
            <a:tbl>
              <a:tblPr/>
              <a:tblGrid>
                <a:gridCol w="2269490"/>
                <a:gridCol w="2269490"/>
                <a:gridCol w="2269490"/>
              </a:tblGrid>
              <a:tr h="474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(Original)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Mapped Class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Approx. Images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Tumor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Healthy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≈ 1,600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Glioma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Tumor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≈ 1,600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Meningioma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Tumor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≈ 1,600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Pituitary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Tumor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≈ 1,700</a:t>
                      </a:r>
                      <a:endParaRPr lang="en-US" sz="18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965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5"/>
          <p:cNvSpPr/>
          <p:nvPr/>
        </p:nvSpPr>
        <p:spPr>
          <a:xfrm>
            <a:off x="7132320" y="2468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520" y="3291840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0" y="5029200"/>
            <a:ext cx="4160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925" y="1682750"/>
            <a:ext cx="4537075" cy="4468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3  ·  3.3 SYSTEM FLOWCHART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an MRI Image Becomes a Prediction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2167128"/>
            <a:ext cx="0" cy="384048"/>
          </a:xfrm>
          <a:prstGeom prst="line">
            <a:avLst/>
          </a:prstGeom>
          <a:noFill/>
          <a:ln w="19050">
            <a:solidFill>
              <a:srgbClr val="C7D6D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Image Input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MRI (JPG/PNG) via Streamlit interface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" y="2990088"/>
            <a:ext cx="0" cy="384048"/>
          </a:xfrm>
          <a:prstGeom prst="line">
            <a:avLst/>
          </a:prstGeom>
          <a:noFill/>
          <a:ln w="19050">
            <a:solidFill>
              <a:srgbClr val="C7D6D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88720" y="256032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 to 224×224, normalize, augment (train time)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" y="3813048"/>
            <a:ext cx="0" cy="384048"/>
          </a:xfrm>
          <a:prstGeom prst="line">
            <a:avLst/>
          </a:prstGeom>
          <a:noFill/>
          <a:ln w="19050">
            <a:solidFill>
              <a:srgbClr val="C7D6D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88720" y="338328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Extraction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convolution filters capture edges &amp; patterns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" y="4636008"/>
            <a:ext cx="0" cy="384048"/>
          </a:xfrm>
          <a:prstGeom prst="line">
            <a:avLst/>
          </a:prstGeom>
          <a:noFill/>
          <a:ln w="19050">
            <a:solidFill>
              <a:srgbClr val="C7D6D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88720" y="420624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</a:t>
            </a:r>
            <a:endParaRPr lang="en-US" b="1" dirty="0">
              <a:solidFill>
                <a:srgbClr val="0B335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452628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connected layers output Healthy / Tumor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E4572E"/>
          </a:solidFill>
        </p:spPr>
      </p:sp>
      <p:sp>
        <p:nvSpPr>
          <p:cNvPr id="25" name="Text 23"/>
          <p:cNvSpPr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50292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88720" y="534924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+ confidence score returned to user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1465580"/>
            <a:ext cx="5486400" cy="51752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9" name="Image 0" descr="/home/claude/assets/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845" y="1435100"/>
            <a:ext cx="5487035" cy="519747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3  ·  3.4 ARCHITECTURE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assets/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" y="1600200"/>
            <a:ext cx="535813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8288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37960" y="1828800"/>
            <a:ext cx="109728" cy="960120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8" name="Text 5"/>
          <p:cNvSpPr/>
          <p:nvPr/>
        </p:nvSpPr>
        <p:spPr>
          <a:xfrm>
            <a:off x="6858000" y="1938528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Interface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0" y="2267712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Streamlit-based UI for image upload &amp; display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37960" y="2944368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944368"/>
            <a:ext cx="109728" cy="960120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12" name="Text 9"/>
          <p:cNvSpPr/>
          <p:nvPr/>
        </p:nvSpPr>
        <p:spPr>
          <a:xfrm>
            <a:off x="6858000" y="3054096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Processing Engine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58000" y="338328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for image preprocessing &amp; inference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37960" y="4059936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4059936"/>
            <a:ext cx="109728" cy="960120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16" name="Text 13"/>
          <p:cNvSpPr/>
          <p:nvPr/>
        </p:nvSpPr>
        <p:spPr>
          <a:xfrm>
            <a:off x="6858000" y="4180459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Model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858000" y="449884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Convolutional blocks trained on labeled MRI set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37960" y="5175504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37960" y="5175504"/>
            <a:ext cx="109728" cy="960120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20" name="Text 17"/>
          <p:cNvSpPr/>
          <p:nvPr/>
        </p:nvSpPr>
        <p:spPr>
          <a:xfrm>
            <a:off x="6858000" y="5285232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 Display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858000" y="5614416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Metrics, accuracy &amp; prediction with confidence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3  ·  3.5 – 3.6 DIAGRAMS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5185"/>
            <a:ext cx="6765925" cy="9055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Organization &amp; 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88465"/>
            <a:ext cx="6949440" cy="4997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/ Class Diagram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460625"/>
            <a:ext cx="6497320" cy="2202815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pic>
        <p:nvPicPr>
          <p:cNvPr id="6" name="Image 0" descr="/home/claude/assets/dataset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2444750"/>
            <a:ext cx="6904355" cy="30092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8885" y="468630"/>
            <a:ext cx="4338320" cy="61150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pic>
        <p:nvPicPr>
          <p:cNvPr id="9" name="Image 1" descr="/home/claude/assets/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885" y="488950"/>
            <a:ext cx="4330065" cy="4743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8730" y="5440680"/>
            <a:ext cx="429831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stages take a raw MRI slice from original pixels through grayscale, denoising, equalization, resizing, and normalization before the CNN makes its healthy/tumor decision.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5373370"/>
            <a:ext cx="6949440" cy="942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is discovered, split (train/val/test), and passed through resize → normalize → CNN → decision stages.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8319770" y="5090160"/>
            <a:ext cx="2983230" cy="269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             Processing Pipeline</a:t>
            </a:r>
            <a:endParaRPr lang="en-US" sz="1400" dirty="0"/>
          </a:p>
          <a:p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3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4  ·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426464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142646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31136" y="2057400"/>
            <a:ext cx="1024128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2057400"/>
            <a:ext cx="1024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19856" y="2057400"/>
            <a:ext cx="1426464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2057400"/>
            <a:ext cx="142646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Torchvision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1225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29968" y="2560320"/>
            <a:ext cx="1728216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2560320"/>
            <a:ext cx="17282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/ Pandas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/ Seaborn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36392" y="3063240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12233B"/>
          </a:solidFill>
          <a:ln w="12700">
            <a:solidFill>
              <a:srgbClr val="1C7293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36392" y="3063240"/>
            <a:ext cx="15270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MODULES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Image Input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" y="4606925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JPG/PNG via Streamlit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 224×224, normalize, augment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12233B"/>
          </a:solidFill>
        </p:spPr>
      </p:sp>
      <p:sp>
        <p:nvSpPr>
          <p:cNvPr id="25" name="Text 23"/>
          <p:cNvSpPr/>
          <p:nvPr/>
        </p:nvSpPr>
        <p:spPr>
          <a:xfrm>
            <a:off x="6537960" y="192024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PROCESSING (CNN</a:t>
            </a:r>
            <a:r>
              <a:rPr lang="en-US" sz="1200" b="1" kern="0" spc="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240280"/>
            <a:ext cx="4709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custom CNN extracts hierarchical spatial features via stacked convolutional and pooling layers, followed by fully connected layers producing a Healthy / Tumor classification with confidence score.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3611880"/>
            <a:ext cx="4709160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7947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MODULE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37960" y="4114800"/>
            <a:ext cx="4709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predicted class &amp; confidence score; generates accuracy, precision, recall, F1-score, confusion matrix, and training curves.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37960" y="5074920"/>
            <a:ext cx="4709160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521208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App Pages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37960" y="548640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· Dataset · Train · Predict · Results · Report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4  ·  4.3 ALGORITHMS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Architecture &amp; Training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084705" cy="2369185"/>
          </a:xfrm>
          <a:prstGeom prst="roundRect">
            <a:avLst>
              <a:gd name="adj" fmla="val 3509"/>
            </a:avLst>
          </a:prstGeom>
          <a:solidFill>
            <a:srgbClr val="0B3350"/>
          </a:solidFill>
        </p:spPr>
      </p:sp>
      <p:sp>
        <p:nvSpPr>
          <p:cNvPr id="5" name="Text 3"/>
          <p:cNvSpPr/>
          <p:nvPr/>
        </p:nvSpPr>
        <p:spPr>
          <a:xfrm>
            <a:off x="777240" y="1783080"/>
            <a:ext cx="18105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7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3640" y="1783715"/>
            <a:ext cx="1403985" cy="474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18385"/>
            <a:ext cx="1810385" cy="1412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Learnable filters slide across the image to generate feature maps capturing edges, textures &amp; shapes.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97480" y="196596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3055" y="1645920"/>
            <a:ext cx="2084705" cy="2393950"/>
          </a:xfrm>
          <a:prstGeom prst="roundRect">
            <a:avLst>
              <a:gd name="adj" fmla="val 3509"/>
            </a:avLst>
          </a:prstGeom>
          <a:solidFill>
            <a:srgbClr val="1C7293"/>
          </a:solidFill>
        </p:spPr>
        <p:txBody>
          <a:bodyPr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90088" y="1783080"/>
            <a:ext cx="18105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7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2335" y="1771650"/>
            <a:ext cx="1358265" cy="5124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ReLU Activation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0088" y="2633472"/>
            <a:ext cx="181051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Introduces non-linearity after each convolution, avoiding vanishing gradients.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0328" y="196596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66030" y="1645920"/>
            <a:ext cx="2084705" cy="2399665"/>
          </a:xfrm>
          <a:prstGeom prst="roundRect">
            <a:avLst>
              <a:gd name="adj" fmla="val 3509"/>
            </a:avLst>
          </a:prstGeom>
          <a:solidFill>
            <a:srgbClr val="0B3350"/>
          </a:solidFill>
        </p:spPr>
        <p:txBody>
          <a:bodyPr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02936" y="1783080"/>
            <a:ext cx="18105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7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6595" y="1760855"/>
            <a:ext cx="1236980" cy="5378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Max Pooling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02936" y="2633472"/>
            <a:ext cx="181051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Downsamples spatial dimensions, adding translation invariance and reducing compute.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3176" y="196596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78370" y="1645920"/>
            <a:ext cx="2063115" cy="2400300"/>
          </a:xfrm>
          <a:prstGeom prst="roundRect">
            <a:avLst>
              <a:gd name="adj" fmla="val 3509"/>
            </a:avLst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7415784" y="1783080"/>
            <a:ext cx="18105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7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58785" y="1682115"/>
            <a:ext cx="1167130" cy="695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Fully Connected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5530" y="2496185"/>
            <a:ext cx="1847215" cy="1468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Flattened features pass through dense layers for global reasoning.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36024" y="1965960"/>
            <a:ext cx="292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345" y="1645920"/>
            <a:ext cx="2084705" cy="2423160"/>
          </a:xfrm>
          <a:prstGeom prst="roundRect">
            <a:avLst>
              <a:gd name="adj" fmla="val 3509"/>
            </a:avLst>
          </a:prstGeom>
          <a:solidFill>
            <a:srgbClr val="0B3350"/>
          </a:solidFill>
        </p:spPr>
      </p:sp>
      <p:sp>
        <p:nvSpPr>
          <p:cNvPr id="25" name="Text 23"/>
          <p:cNvSpPr/>
          <p:nvPr/>
        </p:nvSpPr>
        <p:spPr>
          <a:xfrm>
            <a:off x="9628632" y="1783080"/>
            <a:ext cx="18105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C7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57460" y="1726565"/>
            <a:ext cx="1281430" cy="612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Sigmoid / Softmax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28632" y="2633472"/>
            <a:ext cx="181051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 a normalized probability for Healthy vs. Tumor classification.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uses Binary Cross-Entropy Loss with mini-batch gradient descent via the Adam optimizer.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35240" y="411480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HYPERPARAMETERS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6126480" y="4434840"/>
          <a:ext cx="5440680" cy="224028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Hyperparameter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 Used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Epochs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 size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 size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224 × 224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Learning rate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0.0005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Optimizer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Loss function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Cross-Entropy Loss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5  · 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9013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 Testing &amp; Performance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81635" y="1574800"/>
          <a:ext cx="7506335" cy="4810760"/>
        </p:xfrm>
        <a:graphic>
          <a:graphicData uri="http://schemas.openxmlformats.org/drawingml/2006/table">
            <a:tbl>
              <a:tblPr/>
              <a:tblGrid>
                <a:gridCol w="3471545"/>
                <a:gridCol w="3284220"/>
                <a:gridCol w="750570"/>
              </a:tblGrid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Case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Expected Result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Upload a valid MRI image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 accepted and displayed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Upload a corrupted/invalid file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shows an error, does not crash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 on a Healthy sample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classifies as Healthy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 on a Tumor sample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classifies as Tumor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View dataset statistics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Correct total image count (7,153) displayed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 model from the UI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Training completes and metrics update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View results page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50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Confusion matrix and training curves render</a:t>
                      </a:r>
                      <a:endParaRPr lang="en-US" sz="1600" dirty="0">
                        <a:solidFill>
                          <a:srgbClr val="3C5064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E5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</a:t>
                      </a:r>
                      <a:endParaRPr lang="en-US" sz="1600" b="1" dirty="0">
                        <a:solidFill>
                          <a:srgbClr val="1E8E5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37560" cy="4607560"/>
          </a:xfrm>
          <a:prstGeom prst="roundRect">
            <a:avLst>
              <a:gd name="adj" fmla="val 3288"/>
            </a:avLst>
          </a:prstGeom>
          <a:solidFill>
            <a:srgbClr val="0B3350"/>
          </a:solidFill>
        </p:spPr>
      </p:sp>
      <p:sp>
        <p:nvSpPr>
          <p:cNvPr id="6" name="Text 3"/>
          <p:cNvSpPr/>
          <p:nvPr/>
        </p:nvSpPr>
        <p:spPr>
          <a:xfrm>
            <a:off x="8503920" y="196596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TESTING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331720"/>
            <a:ext cx="2834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2s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503920" y="306324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single-image prediction on CPU-only hardware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03920" y="3840480"/>
            <a:ext cx="2788920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4023360"/>
            <a:ext cx="27889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B3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Robustness verified by testing images from each of the four original classes (glioma, meningioma, pituitary, no-tumor) after mapping to the binary scheme.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5  ·  5.3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B3350"/>
          </a:solidFill>
        </p:spPr>
      </p:sp>
      <p:sp>
        <p:nvSpPr>
          <p:cNvPr id="5" name="Text 3"/>
          <p:cNvSpPr/>
          <p:nvPr/>
        </p:nvSpPr>
        <p:spPr>
          <a:xfrm>
            <a:off x="640080" y="192024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0.976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FB3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783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F2F6"/>
          </a:solidFill>
        </p:spPr>
      </p:sp>
      <p:sp>
        <p:nvSpPr>
          <p:cNvPr id="8" name="Text 6"/>
          <p:cNvSpPr/>
          <p:nvPr/>
        </p:nvSpPr>
        <p:spPr>
          <a:xfrm>
            <a:off x="3364992" y="192024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64992" y="26974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783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F2F6"/>
          </a:solidFill>
        </p:spPr>
      </p:sp>
      <p:sp>
        <p:nvSpPr>
          <p:cNvPr id="11" name="Text 9"/>
          <p:cNvSpPr/>
          <p:nvPr/>
        </p:nvSpPr>
        <p:spPr>
          <a:xfrm>
            <a:off x="6089904" y="192024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9904" y="26974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14816" y="1783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AF2F6"/>
          </a:solidFill>
        </p:spPr>
      </p:sp>
      <p:sp>
        <p:nvSpPr>
          <p:cNvPr id="14" name="Text 12"/>
          <p:cNvSpPr/>
          <p:nvPr/>
        </p:nvSpPr>
        <p:spPr>
          <a:xfrm>
            <a:off x="8814816" y="192024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814816" y="26974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pic>
        <p:nvPicPr>
          <p:cNvPr id="17" name="Image 0" descr="/home/claude/assets/metrics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75" y="3657600"/>
            <a:ext cx="8990965" cy="29578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5  ·  5.3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Matrix &amp; Training Curves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pic>
        <p:nvPicPr>
          <p:cNvPr id="6" name="Image 0" descr="/home/claude/assets/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5" y="2057400"/>
            <a:ext cx="5095875" cy="4029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691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 &amp; Validation Curves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20574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pic>
        <p:nvPicPr>
          <p:cNvPr id="9" name="Image 1" descr="/home/claude/assets/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845" y="2056765"/>
            <a:ext cx="5274310" cy="24987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3703320"/>
            <a:ext cx="5029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>
              <a:solidFill>
                <a:srgbClr val="3C50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dirty="0">
              <a:solidFill>
                <a:srgbClr val="3C50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dirty="0">
              <a:solidFill>
                <a:srgbClr val="3C50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C50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290 healthy and 758 tumor cases correctly classified, with only 25 total misclassifications on the test set — loss and accuracy curves show stable convergence with no significant overfitting.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3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2233B"/>
          </a:solidFill>
        </p:spPr>
      </p:sp>
      <p:sp>
        <p:nvSpPr>
          <p:cNvPr id="5" name="Shape 3"/>
          <p:cNvSpPr/>
          <p:nvPr/>
        </p:nvSpPr>
        <p:spPr>
          <a:xfrm>
            <a:off x="914400" y="2057400"/>
            <a:ext cx="128016" cy="128016"/>
          </a:xfrm>
          <a:prstGeom prst="ellipse">
            <a:avLst/>
          </a:prstGeom>
          <a:solidFill>
            <a:srgbClr val="5FD3A6"/>
          </a:solidFill>
        </p:spPr>
      </p:sp>
      <p:sp>
        <p:nvSpPr>
          <p:cNvPr id="6" name="Text 4"/>
          <p:cNvSpPr/>
          <p:nvPr/>
        </p:nvSpPr>
        <p:spPr>
          <a:xfrm>
            <a:off x="1143000" y="196596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Achievements</a:t>
            </a:r>
            <a:endPara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25146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brain tumor classification system built successfully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34747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app integrates dataset exploration, training, prediction &amp; results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D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443484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test-set performance distinguishing Healthy vs. Tumor scans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2233B"/>
          </a:solidFill>
        </p:spPr>
      </p:sp>
      <p:sp>
        <p:nvSpPr>
          <p:cNvPr id="14" name="Shape 12"/>
          <p:cNvSpPr/>
          <p:nvPr/>
        </p:nvSpPr>
        <p:spPr>
          <a:xfrm>
            <a:off x="4663440" y="2057400"/>
            <a:ext cx="128016" cy="128016"/>
          </a:xfrm>
          <a:prstGeom prst="ellipse">
            <a:avLst/>
          </a:prstGeom>
          <a:solidFill>
            <a:srgbClr val="E4572E"/>
          </a:solidFill>
        </p:spPr>
      </p:sp>
      <p:sp>
        <p:nvSpPr>
          <p:cNvPr id="15" name="Text 13"/>
          <p:cNvSpPr/>
          <p:nvPr/>
        </p:nvSpPr>
        <p:spPr>
          <a:xfrm>
            <a:off x="4892040" y="196596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</a:t>
            </a:r>
            <a:endPara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5146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to 2D MRI slices; may not generalize across scanners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47472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34747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 only — no tumor sub-typing or localization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3484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443484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CPU-only training limited experimentation; no clinical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12233B"/>
          </a:solidFill>
        </p:spPr>
      </p:sp>
      <p:sp>
        <p:nvSpPr>
          <p:cNvPr id="23" name="Shape 21"/>
          <p:cNvSpPr/>
          <p:nvPr/>
        </p:nvSpPr>
        <p:spPr>
          <a:xfrm>
            <a:off x="8412480" y="2057400"/>
            <a:ext cx="128016" cy="128016"/>
          </a:xfrm>
          <a:prstGeom prst="ellipse">
            <a:avLst/>
          </a:prstGeom>
          <a:solidFill>
            <a:srgbClr val="8FC7E0"/>
          </a:solidFill>
        </p:spPr>
      </p:sp>
      <p:sp>
        <p:nvSpPr>
          <p:cNvPr id="24" name="Text 22"/>
          <p:cNvSpPr/>
          <p:nvPr/>
        </p:nvSpPr>
        <p:spPr>
          <a:xfrm>
            <a:off x="8641080" y="196596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12480" y="251460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05088" y="25146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to multi-class classification (glioma / meningioma / pituitary)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347472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05088" y="34747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segmentation/localization (e.g. U-Net) to highlight tumor region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4434840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C7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05088" y="443484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F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deployment and validation on larger, multi-institutional data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02560" y="4572000"/>
            <a:ext cx="5943600" cy="5943600"/>
          </a:xfrm>
          <a:prstGeom prst="ellipse">
            <a:avLst/>
          </a:prstGeom>
          <a:solidFill>
            <a:srgbClr val="0E4066"/>
          </a:solidFill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337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NeuroScan — CNN-Based Brain Tumor Classification from MRI Images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182880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1605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Pranisha Baral  |  CRN: 023-345  |  Department of Computer Science and 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10067925" y="5434330"/>
            <a:ext cx="1233805" cy="10541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6*186"/>
  <p:tag name="TABLE_ENDDRAG_RECT" val="50*257*536*1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8978</Words>
  <Application>WPS Presentation</Application>
  <PresentationFormat>On-screen Show (16:9)</PresentationFormat>
  <Paragraphs>572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Pranisha Baral</cp:lastModifiedBy>
  <cp:revision>3</cp:revision>
  <dcterms:created xsi:type="dcterms:W3CDTF">2026-08-07T05:32:00Z</dcterms:created>
  <dcterms:modified xsi:type="dcterms:W3CDTF">2026-08-07T11:43:58Z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7924600E34624C10A2E27809DEB92F20_13</vt:lpwstr>
  </property>
</Properties>
</file>